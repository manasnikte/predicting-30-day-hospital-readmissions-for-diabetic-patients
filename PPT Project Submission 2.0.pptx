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84"/>
    <p:restoredTop sz="94662"/>
  </p:normalViewPr>
  <p:slideViewPr>
    <p:cSldViewPr snapToGrid="0">
      <p:cViewPr varScale="1">
        <p:scale>
          <a:sx n="104" d="100"/>
          <a:sy n="104" d="100"/>
        </p:scale>
        <p:origin x="4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BD112-0A35-9F41-B781-45F20F5D57F1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C9B79-0DD4-BD4E-B80D-2BCA9D1AC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80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C9B79-0DD4-BD4E-B80D-2BCA9D1AC0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77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81E8-1E40-8749-B9EE-B01DA20615B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1C10C-29E7-7847-BE6E-0D76B50404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81E8-1E40-8749-B9EE-B01DA20615B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1C10C-29E7-7847-BE6E-0D76B50404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81E8-1E40-8749-B9EE-B01DA20615B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1C10C-29E7-7847-BE6E-0D76B50404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81E8-1E40-8749-B9EE-B01DA20615B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1C10C-29E7-7847-BE6E-0D76B50404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81E8-1E40-8749-B9EE-B01DA20615B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1C10C-29E7-7847-BE6E-0D76B50404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81E8-1E40-8749-B9EE-B01DA20615B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1C10C-29E7-7847-BE6E-0D76B50404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81E8-1E40-8749-B9EE-B01DA20615B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1C10C-29E7-7847-BE6E-0D76B50404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81E8-1E40-8749-B9EE-B01DA20615B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1C10C-29E7-7847-BE6E-0D76B50404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81E8-1E40-8749-B9EE-B01DA20615B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1C10C-29E7-7847-BE6E-0D76B50404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81E8-1E40-8749-B9EE-B01DA20615B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1C10C-29E7-7847-BE6E-0D76B50404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81E8-1E40-8749-B9EE-B01DA20615B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1C10C-29E7-7847-BE6E-0D76B50404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681E8-1E40-8749-B9EE-B01DA20615B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81C10C-29E7-7847-BE6E-0D76B50404D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measuring blood sugar level&#10;&#10;AI-generated content may be incorrect.">
            <a:extLst>
              <a:ext uri="{FF2B5EF4-FFF2-40B4-BE49-F238E27FC236}">
                <a16:creationId xmlns:a16="http://schemas.microsoft.com/office/drawing/2014/main" id="{277F5459-2E34-EC33-C55B-FA1192E23EB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-1" b="15708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IN" sz="6600">
                <a:solidFill>
                  <a:schemeClr val="bg1"/>
                </a:solidFill>
                <a:sym typeface="+mn-ea"/>
              </a:rPr>
              <a:t>Predicting 30-Day Hospital Readmissions for Diabetic Patients</a:t>
            </a:r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chemeClr val="bg1"/>
                </a:solidFill>
              </a:rPr>
              <a:t>A Data-Driven Approach to Reducing Costs and Improving Outcomes</a:t>
            </a:r>
          </a:p>
          <a:p>
            <a:r>
              <a:rPr lang="en-US" altLang="en-IN" sz="2200" dirty="0">
                <a:solidFill>
                  <a:schemeClr val="bg1"/>
                </a:solidFill>
              </a:rPr>
              <a:t>Manas Manish Nikte</a:t>
            </a:r>
          </a:p>
          <a:p>
            <a:r>
              <a:rPr lang="en-US" altLang="en-IN" sz="2200" dirty="0">
                <a:solidFill>
                  <a:schemeClr val="bg1"/>
                </a:solidFill>
              </a:rPr>
              <a:t>MISM6200 | 11-19-2025</a:t>
            </a:r>
          </a:p>
          <a:p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400" b="1" dirty="0"/>
              <a:t>THE PROBLEM</a:t>
            </a:r>
            <a:endParaRPr lang="en-US" sz="54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962657"/>
            <a:ext cx="4818888" cy="3547872"/>
          </a:xfrm>
        </p:spPr>
        <p:txBody>
          <a:bodyPr anchor="t">
            <a:normAutofit/>
          </a:bodyPr>
          <a:lstStyle/>
          <a:p>
            <a:r>
              <a:rPr lang="en-IN" sz="2000" b="1" dirty="0"/>
              <a:t>The Challenge:</a:t>
            </a:r>
            <a:r>
              <a:rPr lang="en-IN" sz="2000" dirty="0"/>
              <a:t> 11.2% of diabetic patients readmitted within 30 days</a:t>
            </a:r>
          </a:p>
          <a:p>
            <a:r>
              <a:rPr lang="en-IN" sz="2000" b="1" dirty="0"/>
              <a:t>The Cost:</a:t>
            </a:r>
            <a:r>
              <a:rPr lang="en-IN" sz="2000" dirty="0"/>
              <a:t> $10,000-$15,000 per readmission</a:t>
            </a:r>
          </a:p>
          <a:p>
            <a:r>
              <a:rPr lang="en-IN" sz="2000" b="1" dirty="0"/>
              <a:t>The Goal:</a:t>
            </a:r>
            <a:r>
              <a:rPr lang="en-IN" sz="2000" dirty="0"/>
              <a:t> Identify high-risk patients for targeted intervention</a:t>
            </a:r>
          </a:p>
        </p:txBody>
      </p:sp>
      <p:pic>
        <p:nvPicPr>
          <p:cNvPr id="5" name="Picture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5816A1B9-034E-825A-AC0B-EDFA28F8D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406348"/>
            <a:ext cx="6742176" cy="404530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IN" b="1" dirty="0"/>
              <a:t>The Short Stay Paradox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152" y="2926669"/>
            <a:ext cx="4808472" cy="3066498"/>
          </a:xfrm>
        </p:spPr>
        <p:txBody>
          <a:bodyPr>
            <a:normAutofit/>
          </a:bodyPr>
          <a:lstStyle/>
          <a:p>
            <a:r>
              <a:rPr lang="en-IN" sz="2400" b="1" dirty="0"/>
              <a:t>Finding:</a:t>
            </a:r>
            <a:r>
              <a:rPr lang="en-IN" sz="2400" dirty="0"/>
              <a:t> 1-day stays have LOWEST risk (8.2%)</a:t>
            </a:r>
          </a:p>
          <a:p>
            <a:r>
              <a:rPr lang="en-IN" sz="2400" b="1" dirty="0"/>
              <a:t>Question:</a:t>
            </a:r>
            <a:r>
              <a:rPr lang="en-IN" sz="2400" dirty="0"/>
              <a:t> Are 2-7 day patients discharged too early?</a:t>
            </a:r>
          </a:p>
          <a:p>
            <a:r>
              <a:rPr lang="en-IN" sz="2400" b="1" dirty="0"/>
              <a:t>Action:</a:t>
            </a:r>
            <a:r>
              <a:rPr lang="en-IN" sz="2400" dirty="0"/>
              <a:t> Review discharge protocols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2CE8E-66A8-A562-2710-35CF3A1245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77040" y="1940438"/>
            <a:ext cx="7114959" cy="426897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IN" sz="4800" b="1" dirty="0"/>
              <a:t>The Medication Paradox</a:t>
            </a:r>
            <a:endParaRPr lang="en-US" sz="4800" b="1" dirty="0"/>
          </a:p>
        </p:txBody>
      </p:sp>
      <p:sp>
        <p:nvSpPr>
          <p:cNvPr id="30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1262" y="457200"/>
            <a:ext cx="6269489" cy="2300990"/>
          </a:xfrm>
        </p:spPr>
        <p:txBody>
          <a:bodyPr anchor="ctr">
            <a:noAutofit/>
          </a:bodyPr>
          <a:lstStyle/>
          <a:p>
            <a:r>
              <a:rPr lang="en-IN" sz="2000" b="1" dirty="0"/>
              <a:t>Finding:</a:t>
            </a:r>
            <a:r>
              <a:rPr lang="en-IN" sz="2000" dirty="0"/>
              <a:t> Patients ON diabetes meds → Higher readmission</a:t>
            </a:r>
          </a:p>
          <a:p>
            <a:r>
              <a:rPr lang="en-IN" sz="2000" b="1" dirty="0"/>
              <a:t>Why?</a:t>
            </a:r>
            <a:r>
              <a:rPr lang="en-IN" sz="2000" dirty="0"/>
              <a:t> Selection bias - sicker patients need more treatment</a:t>
            </a:r>
          </a:p>
          <a:p>
            <a:r>
              <a:rPr lang="en-IN" sz="2000" b="1" dirty="0"/>
              <a:t>Insight:</a:t>
            </a:r>
            <a:r>
              <a:rPr lang="en-IN" sz="2000" dirty="0"/>
              <a:t> Insulin prescribed to 53% of patients</a:t>
            </a:r>
          </a:p>
        </p:txBody>
      </p:sp>
      <p:pic>
        <p:nvPicPr>
          <p:cNvPr id="7" name="Picture 6" descr="A graph of a patient's prescription&#10;&#10;AI-generated content may be incorrect.">
            <a:extLst>
              <a:ext uri="{FF2B5EF4-FFF2-40B4-BE49-F238E27FC236}">
                <a16:creationId xmlns:a16="http://schemas.microsoft.com/office/drawing/2014/main" id="{EC1B944F-65B1-642A-5849-7EADF6404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1236"/>
            <a:ext cx="5935622" cy="3826764"/>
          </a:xfrm>
          <a:prstGeom prst="rect">
            <a:avLst/>
          </a:prstGeom>
        </p:spPr>
      </p:pic>
      <p:pic>
        <p:nvPicPr>
          <p:cNvPr id="5" name="Picture 4" descr="A graph showing a number of patients&#10;&#10;AI-generated content may be incorrect.">
            <a:extLst>
              <a:ext uri="{FF2B5EF4-FFF2-40B4-BE49-F238E27FC236}">
                <a16:creationId xmlns:a16="http://schemas.microsoft.com/office/drawing/2014/main" id="{1E0AC15D-6CF8-7669-0131-51D0460F5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622" y="3031236"/>
            <a:ext cx="6253330" cy="382676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IN" b="1" dirty="0"/>
              <a:t>The Health Equity Crisis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073" y="2330630"/>
            <a:ext cx="4958966" cy="3917773"/>
          </a:xfrm>
        </p:spPr>
        <p:txBody>
          <a:bodyPr>
            <a:normAutofit/>
          </a:bodyPr>
          <a:lstStyle/>
          <a:p>
            <a:r>
              <a:rPr lang="en-IN" sz="2400" b="1" dirty="0"/>
              <a:t>Critical Finding:</a:t>
            </a:r>
            <a:r>
              <a:rPr lang="en-IN" sz="2400" dirty="0"/>
              <a:t> Lower A1C testing = Higher readmissions</a:t>
            </a:r>
          </a:p>
          <a:p>
            <a:pPr lvl="1"/>
            <a:r>
              <a:rPr lang="en-IN" sz="2000" dirty="0"/>
              <a:t>African American: 18% testing, 11% readmit</a:t>
            </a:r>
          </a:p>
          <a:p>
            <a:pPr lvl="1"/>
            <a:r>
              <a:rPr lang="en-IN" sz="2000" dirty="0"/>
              <a:t>Caucasian: 16% testing, 11% readmit</a:t>
            </a:r>
          </a:p>
          <a:p>
            <a:pPr lvl="1"/>
            <a:r>
              <a:rPr lang="en-IN" sz="2000" dirty="0"/>
              <a:t>Hispanic: 24% testing, 10% readmit</a:t>
            </a:r>
          </a:p>
          <a:p>
            <a:r>
              <a:rPr lang="en-IN" sz="2400" b="1" dirty="0"/>
              <a:t>Gap:</a:t>
            </a:r>
            <a:r>
              <a:rPr lang="en-IN" sz="2400" dirty="0"/>
              <a:t> Systematic disparities in preventive care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E267F-B578-E7A4-252E-8BB1A1BCAD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77039" y="1940438"/>
            <a:ext cx="7114960" cy="4268976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3400" b="1"/>
              <a:t>THE POLYPHARMACY TIPPING POINT</a:t>
            </a:r>
            <a:endParaRPr lang="en-US" sz="340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Autofit/>
          </a:bodyPr>
          <a:lstStyle/>
          <a:p>
            <a:r>
              <a:rPr lang="en-IN" sz="2200" dirty="0"/>
              <a:t>Clinical Threshold: 20 Medications</a:t>
            </a:r>
          </a:p>
          <a:p>
            <a:r>
              <a:rPr lang="en-IN" sz="2200" dirty="0"/>
              <a:t>Below 20: Predictable risk (4% → 13%)</a:t>
            </a:r>
          </a:p>
          <a:p>
            <a:r>
              <a:rPr lang="en-IN" sz="2200" dirty="0"/>
              <a:t>Above 20: Volatile, complex patients (10-16%)</a:t>
            </a:r>
          </a:p>
          <a:p>
            <a:r>
              <a:rPr lang="en-IN" sz="2200" b="1" dirty="0"/>
              <a:t>Action:</a:t>
            </a:r>
            <a:r>
              <a:rPr lang="en-IN" sz="2200" dirty="0"/>
              <a:t> Flag for intensive case management</a:t>
            </a:r>
          </a:p>
        </p:txBody>
      </p:sp>
      <p:pic>
        <p:nvPicPr>
          <p:cNvPr id="5" name="Picture 4" descr="A graph showing a line of medication&#10;&#10;AI-generated content may be incorrect.">
            <a:extLst>
              <a:ext uri="{FF2B5EF4-FFF2-40B4-BE49-F238E27FC236}">
                <a16:creationId xmlns:a16="http://schemas.microsoft.com/office/drawing/2014/main" id="{EE2FAB76-2920-D258-9EC7-EFC172FC7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36" y="992199"/>
            <a:ext cx="8122674" cy="487360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IN" b="1" dirty="0"/>
              <a:t>THE SOLUTION - RISK SCORE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507" y="2061836"/>
            <a:ext cx="4900611" cy="4478895"/>
          </a:xfrm>
        </p:spPr>
        <p:txBody>
          <a:bodyPr>
            <a:normAutofit/>
          </a:bodyPr>
          <a:lstStyle/>
          <a:p>
            <a:r>
              <a:rPr lang="en-IN" sz="1400" dirty="0"/>
              <a:t>LOS &gt; 7 days = +1 point</a:t>
            </a:r>
          </a:p>
          <a:p>
            <a:r>
              <a:rPr lang="en-IN" sz="1400" dirty="0"/>
              <a:t>Medications ≥ 15 = +1 point</a:t>
            </a:r>
          </a:p>
          <a:p>
            <a:r>
              <a:rPr lang="en-IN" sz="1400" dirty="0"/>
              <a:t>Emergency visits ≥ 2 = +1 point</a:t>
            </a:r>
          </a:p>
          <a:p>
            <a:r>
              <a:rPr lang="en-IN" sz="1400" dirty="0"/>
              <a:t>Prior inpatient stay = +1 point</a:t>
            </a:r>
          </a:p>
          <a:p>
            <a:r>
              <a:rPr lang="en-IN" sz="1400" dirty="0"/>
              <a:t>High A1C = +1 point</a:t>
            </a:r>
          </a:p>
          <a:p>
            <a:r>
              <a:rPr lang="en-IN" sz="1400" dirty="0"/>
              <a:t>Diagnoses ≥ 7 = +1 point</a:t>
            </a:r>
          </a:p>
          <a:p>
            <a:r>
              <a:rPr lang="en-IN" sz="1400" b="1" dirty="0"/>
              <a:t>Results:</a:t>
            </a:r>
            <a:endParaRPr lang="en-IN" sz="1400" dirty="0"/>
          </a:p>
          <a:p>
            <a:r>
              <a:rPr lang="en-IN" sz="1400" dirty="0"/>
              <a:t>Very Low (0): 67% no readmit</a:t>
            </a:r>
          </a:p>
          <a:p>
            <a:r>
              <a:rPr lang="en-IN" sz="1400" dirty="0"/>
              <a:t>Very High (4+): 35% no readmit, 21% &lt;30 days</a:t>
            </a:r>
          </a:p>
        </p:txBody>
      </p:sp>
      <p:pic>
        <p:nvPicPr>
          <p:cNvPr id="5" name="Picture 4" descr="A graph of a bar chart&#10;&#10;AI-generated content may be incorrect.">
            <a:extLst>
              <a:ext uri="{FF2B5EF4-FFF2-40B4-BE49-F238E27FC236}">
                <a16:creationId xmlns:a16="http://schemas.microsoft.com/office/drawing/2014/main" id="{F3D33F80-F6D0-2361-1C05-EB3D701A4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857" y="1940438"/>
            <a:ext cx="7080271" cy="4248161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IN" sz="5400" b="1"/>
              <a:t>MODEL PERFORMANCE</a:t>
            </a:r>
            <a:endParaRPr lang="en-US" sz="5400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706624"/>
            <a:ext cx="5221074" cy="1960861"/>
          </a:xfrm>
        </p:spPr>
        <p:txBody>
          <a:bodyPr>
            <a:noAutofit/>
          </a:bodyPr>
          <a:lstStyle/>
          <a:p>
            <a:r>
              <a:rPr lang="en-IN" sz="2000" dirty="0"/>
              <a:t>Tested 3 algorithms: Logistic Regression, Random Forest, XGBoost</a:t>
            </a:r>
          </a:p>
          <a:p>
            <a:r>
              <a:rPr lang="en-IN" sz="2000" b="1" dirty="0"/>
              <a:t>Performance:</a:t>
            </a:r>
            <a:r>
              <a:rPr lang="en-IN" sz="2000" dirty="0"/>
              <a:t> 61-64% AUC across all models</a:t>
            </a:r>
          </a:p>
          <a:p>
            <a:r>
              <a:rPr lang="en-IN" sz="2000" b="1" dirty="0"/>
              <a:t>Top Predictors:</a:t>
            </a:r>
            <a:r>
              <a:rPr lang="en-IN" sz="2000" dirty="0"/>
              <a:t> Prior inpatient visits, emergency visits, total utilization</a:t>
            </a:r>
          </a:p>
        </p:txBody>
      </p:sp>
      <p:pic>
        <p:nvPicPr>
          <p:cNvPr id="5" name="Picture 4" descr="A graph showing a curve&#10;&#10;AI-generated content may be incorrect.">
            <a:extLst>
              <a:ext uri="{FF2B5EF4-FFF2-40B4-BE49-F238E27FC236}">
                <a16:creationId xmlns:a16="http://schemas.microsoft.com/office/drawing/2014/main" id="{97861F9A-8EF6-5F5E-1EC9-32EFE689C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13699"/>
          <a:stretch>
            <a:fillRect/>
          </a:stretch>
        </p:blipFill>
        <p:spPr>
          <a:xfrm>
            <a:off x="6094476" y="296511"/>
            <a:ext cx="6049428" cy="3132489"/>
          </a:xfrm>
          <a:prstGeom prst="rect">
            <a:avLst/>
          </a:prstGeom>
        </p:spPr>
      </p:pic>
      <p:pic>
        <p:nvPicPr>
          <p:cNvPr id="11" name="Picture 10" descr="A graph with a bar chart&#10;&#10;AI-generated content may be incorrect.">
            <a:extLst>
              <a:ext uri="{FF2B5EF4-FFF2-40B4-BE49-F238E27FC236}">
                <a16:creationId xmlns:a16="http://schemas.microsoft.com/office/drawing/2014/main" id="{95190D9D-E5D1-A154-0BFD-07BE677AA9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176"/>
          <a:stretch>
            <a:fillRect/>
          </a:stretch>
        </p:blipFill>
        <p:spPr>
          <a:xfrm>
            <a:off x="6094476" y="3503121"/>
            <a:ext cx="6049428" cy="3115112"/>
          </a:xfrm>
          <a:prstGeom prst="rect">
            <a:avLst/>
          </a:prstGeom>
        </p:spPr>
      </p:pic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02FAA7AF-0FE0-BA54-296E-060FB9CBA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60677"/>
            <a:ext cx="6130713" cy="178308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Slide Background">
            <a:extLst>
              <a:ext uri="{FF2B5EF4-FFF2-40B4-BE49-F238E27FC236}">
                <a16:creationId xmlns:a16="http://schemas.microsoft.com/office/drawing/2014/main" id="{EEDFD83B-474E-42D8-99FD-25099162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3429000"/>
          </a:xfrm>
          <a:prstGeom prst="rect">
            <a:avLst/>
          </a:prstGeom>
          <a:ln>
            <a:noFill/>
          </a:ln>
          <a:effectLst>
            <a:outerShdw blurRad="444500" dist="152400" dir="5400000" sx="94000" sy="94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384047"/>
            <a:ext cx="4730349" cy="2658201"/>
          </a:xfrm>
        </p:spPr>
        <p:txBody>
          <a:bodyPr anchor="ctr">
            <a:normAutofit/>
          </a:bodyPr>
          <a:lstStyle/>
          <a:p>
            <a:r>
              <a:rPr lang="en-IN" sz="3700" b="1"/>
              <a:t>BUSINESS IMPACT &amp; RECOMMENDATIONS</a:t>
            </a:r>
            <a:endParaRPr lang="en-US" sz="37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2576" y="186339"/>
            <a:ext cx="5820032" cy="3429000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400" b="1" dirty="0"/>
              <a:t>Immediate Actions:</a:t>
            </a:r>
            <a:endParaRPr lang="en-IN" sz="1400" dirty="0"/>
          </a:p>
          <a:p>
            <a:pPr>
              <a:lnSpc>
                <a:spcPct val="100000"/>
              </a:lnSpc>
            </a:pPr>
            <a:r>
              <a:rPr lang="en-IN" sz="1400" dirty="0"/>
              <a:t>✅ Mandate A1C testing for ALL diabetic admissions</a:t>
            </a:r>
          </a:p>
          <a:p>
            <a:pPr>
              <a:lnSpc>
                <a:spcPct val="100000"/>
              </a:lnSpc>
            </a:pPr>
            <a:r>
              <a:rPr lang="en-IN" sz="1400" dirty="0"/>
              <a:t>✅ Flag patients with 20+ medications for pharmacy review</a:t>
            </a:r>
          </a:p>
          <a:p>
            <a:pPr>
              <a:lnSpc>
                <a:spcPct val="100000"/>
              </a:lnSpc>
            </a:pPr>
            <a:r>
              <a:rPr lang="en-IN" sz="1400" dirty="0"/>
              <a:t>✅ Use risk score to triage discharge resources</a:t>
            </a:r>
          </a:p>
          <a:p>
            <a:pPr>
              <a:lnSpc>
                <a:spcPct val="100000"/>
              </a:lnSpc>
            </a:pPr>
            <a:r>
              <a:rPr lang="en-IN" sz="1400" dirty="0"/>
              <a:t>✅ Address racial disparities in preventive care</a:t>
            </a:r>
          </a:p>
          <a:p>
            <a:pPr>
              <a:lnSpc>
                <a:spcPct val="100000"/>
              </a:lnSpc>
            </a:pPr>
            <a:r>
              <a:rPr lang="en-IN" sz="1400" b="1" dirty="0"/>
              <a:t>Expected Outcomes:</a:t>
            </a:r>
            <a:endParaRPr lang="en-IN" sz="1400" dirty="0"/>
          </a:p>
          <a:p>
            <a:pPr>
              <a:lnSpc>
                <a:spcPct val="100000"/>
              </a:lnSpc>
            </a:pPr>
            <a:r>
              <a:rPr lang="en-IN" sz="1400" dirty="0"/>
              <a:t>📉 20-30% reduction in 30-day readmissions</a:t>
            </a:r>
          </a:p>
          <a:p>
            <a:pPr>
              <a:lnSpc>
                <a:spcPct val="100000"/>
              </a:lnSpc>
            </a:pPr>
            <a:r>
              <a:rPr lang="en-IN" sz="1400" dirty="0"/>
              <a:t>💰 $500K - $1M annual savings per hospital</a:t>
            </a:r>
          </a:p>
          <a:p>
            <a:pPr>
              <a:lnSpc>
                <a:spcPct val="100000"/>
              </a:lnSpc>
            </a:pPr>
            <a:r>
              <a:rPr lang="en-IN" sz="1400" dirty="0"/>
              <a:t>😊 Improved patient outcomes</a:t>
            </a:r>
          </a:p>
          <a:p>
            <a:pPr>
              <a:lnSpc>
                <a:spcPct val="100000"/>
              </a:lnSpc>
            </a:pPr>
            <a:r>
              <a:rPr lang="en-IN" sz="1400" dirty="0"/>
              <a:t>⭐ Better CMS star ratings</a:t>
            </a:r>
          </a:p>
          <a:p>
            <a:endParaRPr lang="en-US" sz="1000" dirty="0"/>
          </a:p>
        </p:txBody>
      </p:sp>
      <p:pic>
        <p:nvPicPr>
          <p:cNvPr id="11" name="Picture 10" descr="A graph of red squares&#10;&#10;AI-generated content may be incorrect.">
            <a:extLst>
              <a:ext uri="{FF2B5EF4-FFF2-40B4-BE49-F238E27FC236}">
                <a16:creationId xmlns:a16="http://schemas.microsoft.com/office/drawing/2014/main" id="{3B3551CC-8CE0-44A0-1512-559F23343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03" y="4111519"/>
            <a:ext cx="3394831" cy="2036898"/>
          </a:xfrm>
          <a:prstGeom prst="rect">
            <a:avLst/>
          </a:prstGeom>
        </p:spPr>
      </p:pic>
      <p:pic>
        <p:nvPicPr>
          <p:cNvPr id="5" name="Picture 4" descr="A graph with a line and a red dotted line&#10;&#10;AI-generated content may be incorrect.">
            <a:extLst>
              <a:ext uri="{FF2B5EF4-FFF2-40B4-BE49-F238E27FC236}">
                <a16:creationId xmlns:a16="http://schemas.microsoft.com/office/drawing/2014/main" id="{603DC6C8-0B1E-0AFF-18EF-3A395221D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031" y="4110207"/>
            <a:ext cx="3361090" cy="2016653"/>
          </a:xfrm>
          <a:prstGeom prst="rect">
            <a:avLst/>
          </a:prstGeom>
          <a:effectLst/>
        </p:spPr>
      </p:pic>
      <p:pic>
        <p:nvPicPr>
          <p:cNvPr id="7" name="Picture 6" descr="A diagram of different types of medication&#10;&#10;AI-generated content may be incorrect.">
            <a:extLst>
              <a:ext uri="{FF2B5EF4-FFF2-40B4-BE49-F238E27FC236}">
                <a16:creationId xmlns:a16="http://schemas.microsoft.com/office/drawing/2014/main" id="{A2264DAF-FCC6-046B-D6A5-209F67A90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313" y="4097156"/>
            <a:ext cx="3384884" cy="2030929"/>
          </a:xfrm>
          <a:prstGeom prst="rect">
            <a:avLst/>
          </a:prstGeom>
          <a:effectLst/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E7D7A2-981A-D9A4-5DB4-7269AC65E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Thankyou!</a:t>
            </a:r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5" name="Content Placeholder 4" descr="A qr code with a few black squares&#10;&#10;AI-generated content may be incorrect.">
            <a:extLst>
              <a:ext uri="{FF2B5EF4-FFF2-40B4-BE49-F238E27FC236}">
                <a16:creationId xmlns:a16="http://schemas.microsoft.com/office/drawing/2014/main" id="{90D31793-4C42-1556-26B9-A85C02331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1697" y="1721470"/>
            <a:ext cx="3048790" cy="303884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C70A8C4-E703-F5D7-DD51-51EE2760F230}"/>
              </a:ext>
            </a:extLst>
          </p:cNvPr>
          <p:cNvSpPr txBox="1">
            <a:spLocks/>
          </p:cNvSpPr>
          <p:nvPr/>
        </p:nvSpPr>
        <p:spPr>
          <a:xfrm>
            <a:off x="4712669" y="3634140"/>
            <a:ext cx="7406845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/>
              <a:t>Scan to access the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1493865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389</Words>
  <Application>Microsoft Macintosh PowerPoint</Application>
  <PresentationFormat>Widescreen</PresentationFormat>
  <Paragraphs>55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Predicting 30-Day Hospital Readmissions for Diabetic Patients</vt:lpstr>
      <vt:lpstr>THE PROBLEM</vt:lpstr>
      <vt:lpstr>The Short Stay Paradox</vt:lpstr>
      <vt:lpstr>The Medication Paradox</vt:lpstr>
      <vt:lpstr>The Health Equity Crisis</vt:lpstr>
      <vt:lpstr>THE POLYPHARMACY TIPPING POINT</vt:lpstr>
      <vt:lpstr>THE SOLUTION - RISK SCORE</vt:lpstr>
      <vt:lpstr>MODEL PERFORMANCE</vt:lpstr>
      <vt:lpstr>BUSINESS IMPACT &amp; RECOMMENDATIONS</vt:lpstr>
      <vt:lpstr>Thankyou!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 Manish Nikte</dc:creator>
  <cp:lastModifiedBy>Manas Manish Nikte</cp:lastModifiedBy>
  <cp:revision>6</cp:revision>
  <dcterms:created xsi:type="dcterms:W3CDTF">2025-11-13T00:09:34Z</dcterms:created>
  <dcterms:modified xsi:type="dcterms:W3CDTF">2025-11-17T20:16:19Z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773EBEC255E21D83BE21156995B66038_42</vt:lpwstr>
  </property>
  <property fmtid="{D5CDD505-2E9C-101B-9397-08002B2CF9AE}" pid="3" name="KSOProductBuildVer">
    <vt:lpwstr>1033-6.10.2.8397</vt:lpwstr>
  </property>
</Properties>
</file>